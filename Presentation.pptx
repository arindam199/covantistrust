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Blockchain-Based Order Tracking for Cold Chain Logistics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BCSE329L: Blockchain And Distributed Ledger Technology</a:t>
            </a:r>
          </a:p>
          <a:p>
            <a:r>
              <a:t>Winter Semester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Cold chain logistics transport temperature-sensitive goods (e.g., vaccines, perishables).</a:t>
            </a:r>
          </a:p>
          <a:p>
            <a:pPr>
              <a:defRPr sz="2000"/>
            </a:pPr>
            <a:r>
              <a:t>Maintaining specific temperature ranges (2°C to 8°C) is critical to prevent spoilage.</a:t>
            </a:r>
          </a:p>
          <a:p>
            <a:pPr>
              <a:defRPr sz="2000"/>
            </a:pPr>
            <a:r>
              <a:t>Blockchain provides a decentralized, immutable ledger for supply chains.</a:t>
            </a:r>
          </a:p>
          <a:p>
            <a:pPr>
              <a:defRPr sz="2000"/>
            </a:pPr>
            <a:r>
              <a:t>Smart contracts automate agreements and enforce conditions transparently.</a:t>
            </a:r>
          </a:p>
          <a:p>
            <a:pPr>
              <a:defRPr sz="2000"/>
            </a:pPr>
            <a:r>
              <a:t>Integrating IoT sensors allows real-time environmental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Traditional systems are centralized, creating data silos.</a:t>
            </a:r>
          </a:p>
          <a:p>
            <a:pPr>
              <a:defRPr sz="2000"/>
            </a:pPr>
            <a:r>
              <a:t>It is difficult to determine accountability when temperature excursions occur.</a:t>
            </a:r>
          </a:p>
          <a:p>
            <a:pPr>
              <a:defRPr sz="2000"/>
            </a:pPr>
            <a:r>
              <a:t>Data can be tampered with or suppressed by malicious intermediaries.</a:t>
            </a:r>
          </a:p>
          <a:p>
            <a:pPr>
              <a:defRPr sz="2000"/>
            </a:pPr>
            <a:r>
              <a:t>A decentralized, automated tracking system is needed to log IoT data securely.</a:t>
            </a:r>
          </a:p>
          <a:p>
            <a:pPr>
              <a:defRPr sz="2000"/>
            </a:pPr>
            <a:r>
              <a:t>Automated smart contracts can immediately flag compromised shipments.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Foundational Papers:</a:t>
            </a:r>
          </a:p>
          <a:p>
            <a:pPr>
              <a:defRPr sz="2000"/>
            </a:pPr>
            <a:r>
              <a:t> - Nakamoto (2008): Introduced decentralized ledgers (Bitcoin).</a:t>
            </a:r>
          </a:p>
          <a:p>
            <a:pPr>
              <a:defRPr sz="2000"/>
            </a:pPr>
            <a:r>
              <a:t> - Wood (2014): Introduced smart contracts (Ethereum).</a:t>
            </a:r>
          </a:p>
          <a:p>
            <a:pPr>
              <a:defRPr sz="2000"/>
            </a:pPr>
            <a:r>
              <a:t> - Christidis &amp; Devetsikiotis (2016): Bridging IoT and Blockchain.</a:t>
            </a:r>
          </a:p>
          <a:p>
            <a:pPr>
              <a:defRPr sz="2000"/>
            </a:pPr>
            <a:r>
              <a:t>Recent Developments:</a:t>
            </a:r>
          </a:p>
          <a:p>
            <a:pPr>
              <a:defRPr sz="2000"/>
            </a:pPr>
            <a:r>
              <a:t> - Focus on supply chain cost reduction and transparency (Kshetri, 2021).</a:t>
            </a:r>
          </a:p>
          <a:p>
            <a:pPr>
              <a:defRPr sz="2000"/>
            </a:pPr>
            <a:r>
              <a:t> - Practical traceability in food/pharma cold chains (Wang et al., 2023; Kumar et al., 2024).</a:t>
            </a:r>
          </a:p>
          <a:p>
            <a:pPr>
              <a:defRPr sz="2000"/>
            </a:pPr>
            <a:r>
              <a:t> - Identification of constraints and implementation barriers (Rejeb et al., 2024).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Real-World Use Case &amp;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 Case: Tracking pharmaceutical shipments (2°C - 8°C).</a:t>
            </a:r>
          </a:p>
          <a:p>
            <a:pPr>
              <a:defRPr sz="2000"/>
            </a:pPr>
            <a:r>
              <a:t>Student 1 Gap (Architecture): High transaction costs and latency when logging frequent IoT data on a public blockchain.</a:t>
            </a:r>
          </a:p>
          <a:p>
            <a:pPr>
              <a:defRPr sz="2000"/>
            </a:pPr>
            <a:r>
              <a:t>Student 2 Gap (Smart Contracts): The Oracle Problem – ensuring hardware sensors provide authentic, untampered data before it hits the chain.</a:t>
            </a:r>
          </a:p>
          <a:p>
            <a:pPr>
              <a:defRPr sz="2000"/>
            </a:pPr>
            <a:r>
              <a:t>Student 3 Gap (Adoption): Lack of user-friendly interfaces to bridge Web3 with traditional enterprise ERP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Decentralized Application (dApp): Built on EVM-compatible networks.</a:t>
            </a:r>
          </a:p>
          <a:p>
            <a:pPr>
              <a:defRPr sz="2000"/>
            </a:pPr>
            <a:r>
              <a:t>Order Creation: Sellers initialize shipments with defined parameters.</a:t>
            </a:r>
          </a:p>
          <a:p>
            <a:pPr>
              <a:defRPr sz="2000"/>
            </a:pPr>
            <a:r>
              <a:t>IoT Logging: Real-time sensor data is pushed via APIs to the smart contract.</a:t>
            </a:r>
          </a:p>
          <a:p>
            <a:pPr>
              <a:defRPr sz="2000"/>
            </a:pPr>
            <a:r>
              <a:t>Automated Validation: Contract executes ConditionValid = (Temp ≥ 2°C) ∧ (Temp ≤ 8°C).</a:t>
            </a:r>
          </a:p>
          <a:p>
            <a:pPr>
              <a:defRPr sz="2000"/>
            </a:pPr>
            <a:r>
              <a:t>Immediate Flagging: Any breach automatically updates status to 'Condition Violated'.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Christidis, K., &amp; Devetsikiotis, M. (2016). IEEE Access.</a:t>
            </a:r>
          </a:p>
          <a:p>
            <a:pPr>
              <a:defRPr sz="2000"/>
            </a:pPr>
            <a:r>
              <a:t>Kshetri, N. (2021). International Journal of Information Management.</a:t>
            </a:r>
          </a:p>
          <a:p>
            <a:pPr>
              <a:defRPr sz="2000"/>
            </a:pPr>
            <a:r>
              <a:t>Nakamoto, S. (2008). Decentralized Business Review.</a:t>
            </a:r>
          </a:p>
          <a:p>
            <a:pPr>
              <a:defRPr sz="2000"/>
            </a:pPr>
            <a:r>
              <a:t>Rejeb, A., et al. (2024). International Journal of Logistics Management.</a:t>
            </a:r>
          </a:p>
          <a:p>
            <a:pPr>
              <a:defRPr sz="2000"/>
            </a:pPr>
            <a:r>
              <a:t>Wood, G. (2014). Ethereum project yellow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